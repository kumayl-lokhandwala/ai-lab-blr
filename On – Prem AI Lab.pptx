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49" autoAdjust="0"/>
    <p:restoredTop sz="94660"/>
  </p:normalViewPr>
  <p:slideViewPr>
    <p:cSldViewPr snapToGrid="0">
      <p:cViewPr varScale="1">
        <p:scale>
          <a:sx n="70" d="100"/>
          <a:sy n="70" d="100"/>
        </p:scale>
        <p:origin x="8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38A8-19E3-42D5-895A-4CB0CB6E5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EC477E-B48F-C0C7-2387-D24326CA7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8FB98-7D31-900A-603C-C2622D6F3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2898-2223-448F-858D-169BC5CD921F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7C0F7-D07C-8D3A-62B4-AC9F05E4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EC0C4-C4A5-9B06-2F1C-FB1E3A14A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6E1D2-3D35-4269-8CDD-D1614BF513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37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26069-0560-A82F-AEE2-8B04EA15A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9F26F-05C8-6EC9-C392-A08A265E6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CAF6D-0D06-746E-FE9B-A219F0F7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2898-2223-448F-858D-169BC5CD921F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21890-9BFC-4D8E-B400-33663947E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E3FB5-FA9B-D36C-574F-355C3D143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6E1D2-3D35-4269-8CDD-D1614BF513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595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4B7EA-8B13-4331-643A-2459B5F4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092E1-A3D0-37D3-AD31-EC37207DB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13602-290C-7149-680B-907DB1619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2898-2223-448F-858D-169BC5CD921F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91242-1402-1F84-8F7F-F8517251D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E407C-63A8-3AE4-2F14-520F52507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6E1D2-3D35-4269-8CDD-D1614BF513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678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D46E0-D289-31B9-CA76-AFA1E3195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C2A06-4235-0616-B4B2-58495B53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FC34F5-91C4-6F84-351D-404DBC1B9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DC1AFA-22FF-3DE6-9459-7D08164E9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2898-2223-448F-858D-169BC5CD921F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4AFB2-4622-0EEA-12C3-95593270B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AF723-2329-5F56-8F81-2943059E7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6E1D2-3D35-4269-8CDD-D1614BF513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869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BED10-7B24-1053-1223-2F32724E6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7F3AF-633C-773F-661B-144D7E68C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9D3BE-7B2D-5DAA-4E4A-98FDC1524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E19EA4-CA71-466D-440E-CBF60E6B5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C40D5-3DEC-C278-3638-7D16C47798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C43944-16BE-6DDB-CC8E-27A544E5C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2898-2223-448F-858D-169BC5CD921F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6B8921-33F6-A9B3-F3B7-75C0C672F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6EF8A3-4680-060A-6DE3-9ADF02DF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6E1D2-3D35-4269-8CDD-D1614BF513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81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4D019-9D05-2065-DFB6-4197D5854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5D7261-EB3D-6E10-516C-9FEDA438B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2898-2223-448F-858D-169BC5CD921F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B5FE4F-3796-847C-90F2-0BF911504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761A2E-004C-AD97-4CD5-02258E051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6E1D2-3D35-4269-8CDD-D1614BF513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226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F20C9-5FC6-DCED-B904-A77432B84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2898-2223-448F-858D-169BC5CD921F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A30294-DF31-74EC-D87F-A80949B84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E325B-A933-DE32-4F0A-5151568BD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6E1D2-3D35-4269-8CDD-D1614BF513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334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5F72C-956A-1A07-AFF4-D590FACE7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9D6DC-18A7-27A2-63CD-BC6B4A007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273D15-B8F3-1ECD-AB74-BD36F48BD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88526-38BA-1ABF-CEFC-49609D1E1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2898-2223-448F-858D-169BC5CD921F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05DF2-4226-F594-7AA2-689D565B6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0CFF9-D52E-5971-6083-04DD6E78B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6E1D2-3D35-4269-8CDD-D1614BF513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43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D9F41-C2E5-AA20-B939-A76B8E3D4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1B4160-9DD8-FF0E-229C-24CF15DB77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166F7E-42F7-63E8-C00C-6BAF0D2A4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FC75F-83D7-C114-F0BC-3182EB387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2898-2223-448F-858D-169BC5CD921F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A6855-1178-D617-26D1-2CF0A0473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7F8ED-C097-A7E8-1CAF-9EB15C8B6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6E1D2-3D35-4269-8CDD-D1614BF513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98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4505C-CD8B-BD2F-E8B3-ABD1518FB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A8896-A383-CD16-B842-E8328976A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BDEA1-4C1B-4CA0-F0BA-AC0F42E47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2898-2223-448F-858D-169BC5CD921F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3947E-54C9-DD28-3F99-AB10C3172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B2842-ECD9-03FD-4C1C-43A5217E9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6E1D2-3D35-4269-8CDD-D1614BF513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729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D3EF35-A864-D8E1-D14E-ADE9963B06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DAACF-6E25-973F-1E6A-F2AD8FFA9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15C65-C52A-6CDF-AC87-9DB969DDA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2898-2223-448F-858D-169BC5CD921F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B501D-CA1A-0061-02BC-17BC28840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0315A-2960-9983-7CD5-3CBF02A40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6E1D2-3D35-4269-8CDD-D1614BF513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787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F0F7EC-1100-E1A7-BEAA-A15379EEA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0D2C0-1B69-2952-486E-424348427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7DA6D-A18C-9E30-ABD3-23F4C2A49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D2898-2223-448F-858D-169BC5CD921F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05AF2-A2A9-2E12-50F1-358C9F27DE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E12BE-E83A-CC13-6D14-C7243936F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16E1D2-3D35-4269-8CDD-D1614BF513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302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E8937-763F-643B-501A-599BA4F0E5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On – Prem AI Lab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B6A2A9-9B90-F6AC-0953-4DBC7D4E18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 48 GB GPU-based air-gapped AI workstation for local inference, RAG, and AI-assisted banking workflows.</a:t>
            </a:r>
          </a:p>
        </p:txBody>
      </p:sp>
    </p:spTree>
    <p:extLst>
      <p:ext uri="{BB962C8B-B14F-4D97-AF65-F5344CB8AC3E}">
        <p14:creationId xmlns:p14="http://schemas.microsoft.com/office/powerpoint/2010/main" val="1569446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FEFC6-9A93-0AA1-BE26-DAE60CDCA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System Capabilities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3ECD819-3604-4C83-42EC-334E04B388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3468457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F1510A-3DD9-0B1D-6AC7-FD3F77F97CF5}"/>
              </a:ext>
            </a:extLst>
          </p:cNvPr>
          <p:cNvSpPr txBox="1"/>
          <p:nvPr/>
        </p:nvSpPr>
        <p:spPr>
          <a:xfrm>
            <a:off x="4502844" y="1690688"/>
            <a:ext cx="677731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hardware is configured as a </a:t>
            </a:r>
            <a:r>
              <a:rPr lang="en-IN" b="1" dirty="0"/>
              <a:t>high-density, air-gapped AI workstation</a:t>
            </a:r>
            <a:r>
              <a:rPr lang="en-IN" dirty="0"/>
              <a:t> (equipped with 48 GB of high-speed GPU VRAM and 128 GB of ECC system memory).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setup is optimized for local inference, fine-tuning parameter-efficient adapters (</a:t>
            </a:r>
            <a:r>
              <a:rPr lang="en-IN" dirty="0" err="1"/>
              <a:t>LoRA</a:t>
            </a:r>
            <a:r>
              <a:rPr lang="en-IN" dirty="0"/>
              <a:t>/</a:t>
            </a:r>
            <a:r>
              <a:rPr lang="en-IN" dirty="0" err="1"/>
              <a:t>QLoRA</a:t>
            </a:r>
            <a:r>
              <a:rPr lang="en-IN" dirty="0"/>
              <a:t>), and secure Retrieval-Augmented Generation (RAG).</a:t>
            </a:r>
          </a:p>
          <a:p>
            <a:endParaRPr lang="en-IN" dirty="0"/>
          </a:p>
          <a:p>
            <a:r>
              <a:rPr lang="en-IN" dirty="0"/>
              <a:t>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Zero Egress Compliance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Document Intelligence and RAG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Concurrent Throughput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Token Cost Elimination</a:t>
            </a:r>
          </a:p>
          <a:p>
            <a:endParaRPr lang="en-IN" dirty="0"/>
          </a:p>
          <a:p>
            <a:r>
              <a:rPr lang="en-IN" dirty="0"/>
              <a:t>Boundaries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Training from Scratch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Enterprise Wide High Concurrency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Mass Multi-modal Video Analytics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3551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57119-72F9-F9EB-1EB4-18151ABAE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Roadmap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575CD5-5102-D9B3-412D-1B1B5641F3E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54864" y="1783016"/>
          <a:ext cx="10282272" cy="44365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70568">
                  <a:extLst>
                    <a:ext uri="{9D8B030D-6E8A-4147-A177-3AD203B41FA5}">
                      <a16:colId xmlns:a16="http://schemas.microsoft.com/office/drawing/2014/main" val="3228303650"/>
                    </a:ext>
                  </a:extLst>
                </a:gridCol>
                <a:gridCol w="2570568">
                  <a:extLst>
                    <a:ext uri="{9D8B030D-6E8A-4147-A177-3AD203B41FA5}">
                      <a16:colId xmlns:a16="http://schemas.microsoft.com/office/drawing/2014/main" val="1739764887"/>
                    </a:ext>
                  </a:extLst>
                </a:gridCol>
                <a:gridCol w="2570568">
                  <a:extLst>
                    <a:ext uri="{9D8B030D-6E8A-4147-A177-3AD203B41FA5}">
                      <a16:colId xmlns:a16="http://schemas.microsoft.com/office/drawing/2014/main" val="2220914339"/>
                    </a:ext>
                  </a:extLst>
                </a:gridCol>
                <a:gridCol w="2570568">
                  <a:extLst>
                    <a:ext uri="{9D8B030D-6E8A-4147-A177-3AD203B41FA5}">
                      <a16:colId xmlns:a16="http://schemas.microsoft.com/office/drawing/2014/main" val="2121518088"/>
                    </a:ext>
                  </a:extLst>
                </a:gridCol>
              </a:tblGrid>
              <a:tr h="367579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Phase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09" marR="74509" marT="49673" marB="49673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Duration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09" marR="74509" marT="49673" marB="49673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Core Focus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09" marR="74509" marT="49673" marB="49673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Major Deliverable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09" marR="74509" marT="49673" marB="49673" anchor="ctr"/>
                </a:tc>
                <a:extLst>
                  <a:ext uri="{0D108BD9-81ED-4DB2-BD59-A6C34878D82A}">
                    <a16:rowId xmlns:a16="http://schemas.microsoft.com/office/drawing/2014/main" val="3186257987"/>
                  </a:ext>
                </a:extLst>
              </a:tr>
              <a:tr h="635812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Phase 1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09" marR="74509" marT="49673" marB="49673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Months 1–2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09" marR="74509" marT="49673" marB="49673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Hardware Procurement, Site Prep &amp; Assembly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09" marR="74509" marT="49673" marB="49673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Operational air-gapped physical workstation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09" marR="74509" marT="49673" marB="49673" anchor="ctr"/>
                </a:tc>
                <a:extLst>
                  <a:ext uri="{0D108BD9-81ED-4DB2-BD59-A6C34878D82A}">
                    <a16:rowId xmlns:a16="http://schemas.microsoft.com/office/drawing/2014/main" val="571821560"/>
                  </a:ext>
                </a:extLst>
              </a:tr>
              <a:tr h="90404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Phase 2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09" marR="74509" marT="49673" marB="49673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Months 3–4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09" marR="74509" marT="49673" marB="49673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Local AI Stack Deployment &amp; Baselining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09" marR="74509" marT="49673" marB="49673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Working internal chat interface with base models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09" marR="74509" marT="49673" marB="49673" anchor="ctr"/>
                </a:tc>
                <a:extLst>
                  <a:ext uri="{0D108BD9-81ED-4DB2-BD59-A6C34878D82A}">
                    <a16:rowId xmlns:a16="http://schemas.microsoft.com/office/drawing/2014/main" val="560875113"/>
                  </a:ext>
                </a:extLst>
              </a:tr>
              <a:tr h="635812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Phase 3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09" marR="74509" marT="49673" marB="49673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Months 5–6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09" marR="74509" marT="49673" marB="49673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Knowledge Ingestion &amp; RAG Pipeline Setup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09" marR="74509" marT="49673" marB="49673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Automated policy and circular lookup system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09" marR="74509" marT="49673" marB="49673" anchor="ctr"/>
                </a:tc>
                <a:extLst>
                  <a:ext uri="{0D108BD9-81ED-4DB2-BD59-A6C34878D82A}">
                    <a16:rowId xmlns:a16="http://schemas.microsoft.com/office/drawing/2014/main" val="4013225025"/>
                  </a:ext>
                </a:extLst>
              </a:tr>
              <a:tr h="90404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Phase 4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09" marR="74509" marT="49673" marB="49673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Months 7–8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09" marR="74509" marT="49673" marB="49673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Departmental Pilot &amp; Security Hardening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09" marR="74509" marT="49673" marB="49673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Live user testing with Credit &amp; Compliance teams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09" marR="74509" marT="49673" marB="49673" anchor="ctr"/>
                </a:tc>
                <a:extLst>
                  <a:ext uri="{0D108BD9-81ED-4DB2-BD59-A6C34878D82A}">
                    <a16:rowId xmlns:a16="http://schemas.microsoft.com/office/drawing/2014/main" val="2687404187"/>
                  </a:ext>
                </a:extLst>
              </a:tr>
              <a:tr h="90404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Phase 5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09" marR="74509" marT="49673" marB="49673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Months 9–10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09" marR="74509" marT="49673" marB="49673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ROI Audit, Token Accounting &amp; Expansion Case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09" marR="74509" marT="49673" marB="49673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Executive report detailing savings and next steps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09" marR="74509" marT="49673" marB="49673" anchor="ctr"/>
                </a:tc>
                <a:extLst>
                  <a:ext uri="{0D108BD9-81ED-4DB2-BD59-A6C34878D82A}">
                    <a16:rowId xmlns:a16="http://schemas.microsoft.com/office/drawing/2014/main" val="235163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1909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F6C72-8D2C-355B-5AF7-4C25D3B40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Breakdown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AE61029-8AB1-92B2-B919-51D6EBAC14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7412051"/>
              </p:ext>
            </p:extLst>
          </p:nvPr>
        </p:nvGraphicFramePr>
        <p:xfrm>
          <a:off x="1956817" y="1490472"/>
          <a:ext cx="7854696" cy="48097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18232">
                  <a:extLst>
                    <a:ext uri="{9D8B030D-6E8A-4147-A177-3AD203B41FA5}">
                      <a16:colId xmlns:a16="http://schemas.microsoft.com/office/drawing/2014/main" val="879188827"/>
                    </a:ext>
                  </a:extLst>
                </a:gridCol>
                <a:gridCol w="2618232">
                  <a:extLst>
                    <a:ext uri="{9D8B030D-6E8A-4147-A177-3AD203B41FA5}">
                      <a16:colId xmlns:a16="http://schemas.microsoft.com/office/drawing/2014/main" val="2953343962"/>
                    </a:ext>
                  </a:extLst>
                </a:gridCol>
                <a:gridCol w="2618232">
                  <a:extLst>
                    <a:ext uri="{9D8B030D-6E8A-4147-A177-3AD203B41FA5}">
                      <a16:colId xmlns:a16="http://schemas.microsoft.com/office/drawing/2014/main" val="3855473726"/>
                    </a:ext>
                  </a:extLst>
                </a:gridCol>
              </a:tblGrid>
              <a:tr h="216497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Item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Component Specification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Est. Cost (INR)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extLst>
                  <a:ext uri="{0D108BD9-81ED-4DB2-BD59-A6C34878D82A}">
                    <a16:rowId xmlns:a16="http://schemas.microsoft.com/office/drawing/2014/main" val="3537137769"/>
                  </a:ext>
                </a:extLst>
              </a:tr>
              <a:tr h="53246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Compute / GPUs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2x NVIDIA RTX 4090 24GB (or 1x RTX 6000 Ada 48GB, depending on availability)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₹ 5,20,000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extLst>
                  <a:ext uri="{0D108BD9-81ED-4DB2-BD59-A6C34878D82A}">
                    <a16:rowId xmlns:a16="http://schemas.microsoft.com/office/drawing/2014/main" val="250205389"/>
                  </a:ext>
                </a:extLst>
              </a:tr>
              <a:tr h="53246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Processor (CPU)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AMD Ryzen Threadripper 7960X (24-Cores, 48-Threads, high PCIe lanes)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₹ 1,40,000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extLst>
                  <a:ext uri="{0D108BD9-81ED-4DB2-BD59-A6C34878D82A}">
                    <a16:rowId xmlns:a16="http://schemas.microsoft.com/office/drawing/2014/main" val="3767836059"/>
                  </a:ext>
                </a:extLst>
              </a:tr>
              <a:tr h="374481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Motherboard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TRX50 Workstation Board (PCIe 5.0 multi-GPU support)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₹ 75,000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extLst>
                  <a:ext uri="{0D108BD9-81ED-4DB2-BD59-A6C34878D82A}">
                    <a16:rowId xmlns:a16="http://schemas.microsoft.com/office/drawing/2014/main" val="683791877"/>
                  </a:ext>
                </a:extLst>
              </a:tr>
              <a:tr h="374481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Memory (RAM)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128 GB DDR5 ECC Registered Workstation Memory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₹ 65,000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extLst>
                  <a:ext uri="{0D108BD9-81ED-4DB2-BD59-A6C34878D82A}">
                    <a16:rowId xmlns:a16="http://schemas.microsoft.com/office/drawing/2014/main" val="3218775006"/>
                  </a:ext>
                </a:extLst>
              </a:tr>
              <a:tr h="374481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Storage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2x 2TB Enterprise M.2 NVMe Gen 4 SSDs (RAID-1 configuration)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₹ 35,00,0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extLst>
                  <a:ext uri="{0D108BD9-81ED-4DB2-BD59-A6C34878D82A}">
                    <a16:rowId xmlns:a16="http://schemas.microsoft.com/office/drawing/2014/main" val="748891635"/>
                  </a:ext>
                </a:extLst>
              </a:tr>
              <a:tr h="374481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Chassis &amp; Power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Full-Tower High-Airflow Chassis + 1600W 80+ Titanium PSU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₹ 45,000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extLst>
                  <a:ext uri="{0D108BD9-81ED-4DB2-BD59-A6C34878D82A}">
                    <a16:rowId xmlns:a16="http://schemas.microsoft.com/office/drawing/2014/main" val="3619964570"/>
                  </a:ext>
                </a:extLst>
              </a:tr>
              <a:tr h="374481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Thermal Management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Heavy-duty AIO CPU Liquid Cooler + High-CFM Industrial Case Fans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₹ 20,000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extLst>
                  <a:ext uri="{0D108BD9-81ED-4DB2-BD59-A6C34878D82A}">
                    <a16:rowId xmlns:a16="http://schemas.microsoft.com/office/drawing/2014/main" val="1626890147"/>
                  </a:ext>
                </a:extLst>
              </a:tr>
              <a:tr h="53246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Power Protection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3 kVA True Online Double-Conversion UPS (with 30-minute full-load backup)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₹ 45,000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extLst>
                  <a:ext uri="{0D108BD9-81ED-4DB2-BD59-A6C34878D82A}">
                    <a16:rowId xmlns:a16="http://schemas.microsoft.com/office/drawing/2014/main" val="4113155502"/>
                  </a:ext>
                </a:extLst>
              </a:tr>
              <a:tr h="53246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Networking &amp; Setup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10GbE Network Interface Card, shielded CAT6A runs, and integration consumables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₹ 25,000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extLst>
                  <a:ext uri="{0D108BD9-81ED-4DB2-BD59-A6C34878D82A}">
                    <a16:rowId xmlns:a16="http://schemas.microsoft.com/office/drawing/2014/main" val="2739627411"/>
                  </a:ext>
                </a:extLst>
              </a:tr>
              <a:tr h="374481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Contingency Buffer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Taxes/freight variances, mounting accessories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₹ 30,000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extLst>
                  <a:ext uri="{0D108BD9-81ED-4DB2-BD59-A6C34878D82A}">
                    <a16:rowId xmlns:a16="http://schemas.microsoft.com/office/drawing/2014/main" val="4200199482"/>
                  </a:ext>
                </a:extLst>
              </a:tr>
              <a:tr h="216497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effectLst/>
                        </a:rPr>
                        <a:t>Total Project CapEx</a:t>
                      </a: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endParaRPr lang="en-IN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 dirty="0">
                          <a:effectLst/>
                        </a:rPr>
                        <a:t>₹ 10,00,000</a:t>
                      </a:r>
                      <a:endParaRPr lang="en-IN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9702" marR="39702" marT="26468" marB="26468" anchor="ctr"/>
                </a:tc>
                <a:extLst>
                  <a:ext uri="{0D108BD9-81ED-4DB2-BD59-A6C34878D82A}">
                    <a16:rowId xmlns:a16="http://schemas.microsoft.com/office/drawing/2014/main" val="1770858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4648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DE985-6C48-EFF2-2006-A6F5AB9E0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Criteria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BB5B8-F422-8305-1263-491D61F57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000" b="1" dirty="0"/>
              <a:t>Information Retrieval Accuracy:</a:t>
            </a:r>
            <a:r>
              <a:rPr lang="en-IN" sz="2000" dirty="0"/>
              <a:t> Target </a:t>
            </a:r>
            <a:r>
              <a:rPr lang="en-IN" sz="2000" b="1" dirty="0"/>
              <a:t>≥90% precision</a:t>
            </a:r>
            <a:r>
              <a:rPr lang="en-IN" sz="2000" dirty="0"/>
              <a:t> on policy queries, verified against a manual audit of citations by the compliance team.</a:t>
            </a:r>
          </a:p>
          <a:p>
            <a:pPr lvl="0"/>
            <a:r>
              <a:rPr lang="en-IN" sz="2000" b="1" dirty="0"/>
              <a:t>System Availability &amp; Latency:</a:t>
            </a:r>
            <a:r>
              <a:rPr lang="en-IN" sz="2000" dirty="0"/>
              <a:t> Target </a:t>
            </a:r>
            <a:r>
              <a:rPr lang="en-IN" sz="2000" b="1" dirty="0"/>
              <a:t>99.5% local uptime</a:t>
            </a:r>
            <a:r>
              <a:rPr lang="en-IN" sz="2000" dirty="0"/>
              <a:t> with an average first-token response time under </a:t>
            </a:r>
            <a:r>
              <a:rPr lang="en-IN" sz="2000" b="1" dirty="0"/>
              <a:t>1.5 seconds</a:t>
            </a:r>
            <a:r>
              <a:rPr lang="en-IN" sz="2000" dirty="0"/>
              <a:t> across the internal network.</a:t>
            </a:r>
          </a:p>
          <a:p>
            <a:pPr lvl="0"/>
            <a:r>
              <a:rPr lang="en-IN" sz="2000" b="1" dirty="0"/>
              <a:t>Cloud Token Cost Avoidance:</a:t>
            </a:r>
            <a:r>
              <a:rPr lang="en-IN" sz="2000" dirty="0"/>
              <a:t> Document the total tokens generated during the 10 months and compare that figure to equivalent commercial API rates, demonstrating the point at which the ₹10 Lakh investment fully amortizes itself.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1448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7D987-9D83-9024-EBF4-EB9AB6065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Limitations Remediations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5354B-28EF-B5E1-27E2-135688031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Aggressive Quantization</a:t>
            </a:r>
          </a:p>
          <a:p>
            <a:pPr marL="0" indent="0">
              <a:buNone/>
            </a:pPr>
            <a:r>
              <a:rPr lang="en-IN" dirty="0"/>
              <a:t>Our team will use 4-bit or 8-bit quantization (methods like AWQ or GPTQ) which shrinks the model’s weight footprint by </a:t>
            </a:r>
            <a:r>
              <a:rPr lang="en-IN" dirty="0" err="1"/>
              <a:t>upto</a:t>
            </a:r>
            <a:r>
              <a:rPr lang="en-IN" dirty="0"/>
              <a:t> 70%</a:t>
            </a:r>
          </a:p>
          <a:p>
            <a:r>
              <a:rPr lang="en-IN" dirty="0"/>
              <a:t>Capping the context window</a:t>
            </a:r>
          </a:p>
          <a:p>
            <a:pPr marL="0" indent="0">
              <a:buNone/>
            </a:pPr>
            <a:r>
              <a:rPr lang="en-IN" dirty="0"/>
              <a:t>Engineers must manually limit the model's context window. This stops any single employee from pasting an entire codebase and accidentally crashing the server for everyone else.</a:t>
            </a:r>
          </a:p>
          <a:p>
            <a:r>
              <a:rPr lang="en-IN" dirty="0"/>
              <a:t>KV Cache Quantization</a:t>
            </a:r>
          </a:p>
          <a:p>
            <a:pPr marL="0" indent="0">
              <a:buNone/>
            </a:pPr>
            <a:r>
              <a:rPr lang="en-IN" dirty="0"/>
              <a:t>By quantizing the KV cache down to 8-bit, the server can instantly handle double the amount of concurrent users with virtually zero loss in answer quality. </a:t>
            </a:r>
          </a:p>
          <a:p>
            <a:r>
              <a:rPr lang="en-IN" dirty="0"/>
              <a:t>Strict RAG Chunking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1782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F3B9E-E1C7-7B54-2B3D-CC735CEAC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623AB-4ED8-CA6E-705C-933C1A8C4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048"/>
            <a:ext cx="10515600" cy="464991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Code Generation &amp; Developer Models</a:t>
            </a:r>
          </a:p>
          <a:p>
            <a:r>
              <a:rPr lang="en-US" dirty="0"/>
              <a:t>Qwen3 – Coder (approx. 32B)</a:t>
            </a:r>
          </a:p>
          <a:p>
            <a:r>
              <a:rPr lang="en-US" dirty="0"/>
              <a:t>Devstral2 </a:t>
            </a:r>
          </a:p>
          <a:p>
            <a:r>
              <a:rPr lang="en-US" dirty="0"/>
              <a:t>Laguna XS 2.1</a:t>
            </a:r>
          </a:p>
          <a:p>
            <a:pPr marL="0" indent="0">
              <a:buNone/>
            </a:pPr>
            <a:r>
              <a:rPr lang="en-US" dirty="0"/>
              <a:t>Policy RAG &amp; Compliance Reasoning</a:t>
            </a:r>
          </a:p>
          <a:p>
            <a:r>
              <a:rPr lang="en-US" dirty="0"/>
              <a:t>Qwen3.6 (27B or 35B – </a:t>
            </a:r>
            <a:r>
              <a:rPr lang="en-US" dirty="0" err="1"/>
              <a:t>MoE</a:t>
            </a:r>
            <a:r>
              <a:rPr lang="en-US" dirty="0"/>
              <a:t>)</a:t>
            </a:r>
          </a:p>
          <a:p>
            <a:r>
              <a:rPr lang="en-US" dirty="0"/>
              <a:t>Gemma 4 (31B)</a:t>
            </a:r>
          </a:p>
          <a:p>
            <a:pPr marL="0" indent="0">
              <a:buNone/>
            </a:pPr>
            <a:r>
              <a:rPr lang="en-US" dirty="0"/>
              <a:t>Ultra Low Latency (Tab-Autocomplete)</a:t>
            </a:r>
          </a:p>
          <a:p>
            <a:r>
              <a:rPr lang="en-IN" dirty="0"/>
              <a:t>Smaller Qwen3-Coder or Gemma 4 Edge variants (7B to 9B)</a:t>
            </a:r>
          </a:p>
          <a:p>
            <a:pPr marL="0" indent="0">
              <a:buNone/>
            </a:pPr>
            <a:r>
              <a:rPr lang="en-IN" dirty="0"/>
              <a:t>The "Hidden" RAG Infrastructure Models</a:t>
            </a:r>
          </a:p>
          <a:p>
            <a:r>
              <a:rPr lang="en-IN" dirty="0"/>
              <a:t>Embedding Model (e.g., BGE-M3 or Nomic-Embed-v1.5)</a:t>
            </a:r>
          </a:p>
          <a:p>
            <a:r>
              <a:rPr lang="en-IN" dirty="0"/>
              <a:t>Cross-Encoder / </a:t>
            </a:r>
            <a:r>
              <a:rPr lang="en-IN" dirty="0" err="1"/>
              <a:t>Reranker</a:t>
            </a:r>
            <a:r>
              <a:rPr lang="en-IN" dirty="0"/>
              <a:t> (e.g., BGE-Reranker-v2/v3):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5244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721BE-5FE7-0312-ECFC-3EAE49034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 Implementations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3D4F0-F01B-50C0-EB37-1107163C7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SBI Life Insurance</a:t>
            </a:r>
          </a:p>
          <a:p>
            <a:pPr marL="0" indent="0">
              <a:buNone/>
            </a:pPr>
            <a:r>
              <a:rPr lang="en-IN" dirty="0"/>
              <a:t>SBI Life deployed an internal platform called "</a:t>
            </a:r>
            <a:r>
              <a:rPr lang="en-IN" dirty="0" err="1"/>
              <a:t>InsightGenie</a:t>
            </a:r>
            <a:r>
              <a:rPr lang="en-IN" dirty="0"/>
              <a:t>". This is an AI-driven data insights platform explicitly built as a secure, on-premise solution. It allows their internal teams to access, </a:t>
            </a:r>
            <a:r>
              <a:rPr lang="en-IN" dirty="0" err="1"/>
              <a:t>analyze</a:t>
            </a:r>
            <a:r>
              <a:rPr lang="en-IN" dirty="0"/>
              <a:t>, and query multi-layered proprietary performance data without exposing that financial telemetry to external cloud networks. </a:t>
            </a:r>
          </a:p>
          <a:p>
            <a:r>
              <a:rPr lang="en-IN" dirty="0"/>
              <a:t>MUFG (Mitsubishi UFJ Financial Group)</a:t>
            </a:r>
          </a:p>
          <a:p>
            <a:pPr marL="0" indent="0">
              <a:buNone/>
            </a:pPr>
            <a:r>
              <a:rPr lang="en-IN" dirty="0"/>
              <a:t>MUFG has deployed on-premise, air-gapped AI workflows specifically designed for core banking compliance. By using localized platforms, they can run deterministic AI tasks—like KYC document processing, AML (Anti-Money Laundering) checks, and loan underwriting automation</a:t>
            </a:r>
          </a:p>
        </p:txBody>
      </p:sp>
    </p:spTree>
    <p:extLst>
      <p:ext uri="{BB962C8B-B14F-4D97-AF65-F5344CB8AC3E}">
        <p14:creationId xmlns:p14="http://schemas.microsoft.com/office/powerpoint/2010/main" val="1850827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741</Words>
  <Application>Microsoft Office PowerPoint</Application>
  <PresentationFormat>Widescreen</PresentationFormat>
  <Paragraphs>107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Google Sans Text</vt:lpstr>
      <vt:lpstr>Office Theme</vt:lpstr>
      <vt:lpstr>On – Prem AI Lab</vt:lpstr>
      <vt:lpstr>Prototype System Capabilities</vt:lpstr>
      <vt:lpstr>Implementation Roadmap</vt:lpstr>
      <vt:lpstr>Budget Breakdown</vt:lpstr>
      <vt:lpstr>Success Criteria</vt:lpstr>
      <vt:lpstr>Memory Limitations Remediations</vt:lpstr>
      <vt:lpstr>Models</vt:lpstr>
      <vt:lpstr>Similar Implementations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1279</dc:creator>
  <cp:lastModifiedBy>1279</cp:lastModifiedBy>
  <cp:revision>1</cp:revision>
  <dcterms:created xsi:type="dcterms:W3CDTF">2026-09-17T07:22:50Z</dcterms:created>
  <dcterms:modified xsi:type="dcterms:W3CDTF">2026-09-17T07:23:03Z</dcterms:modified>
</cp:coreProperties>
</file>